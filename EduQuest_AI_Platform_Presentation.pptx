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6459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EFF9A"/>
                </a:solidFill>
                <a:latin typeface="Arial"/>
              </a:defRPr>
            </a:pPr>
            <a:r>
              <a:t>❖ MACHINE LEARNING &amp; GAMIFICATION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01168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5F5F5"/>
                </a:solidFill>
                <a:latin typeface="Arial"/>
              </a:defRPr>
            </a:pPr>
            <a:r>
              <a:t>AI-Powered Gamified</a:t>
            </a:r>
            <a:br/>
            <a:r>
              <a:t>Learning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9319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4A3B8"/>
                </a:solidFill>
                <a:latin typeface="Arial"/>
              </a:defRPr>
            </a:pPr>
            <a:r>
              <a:t>Intelligent Performance Analytics &amp; Reward Systems for Grades 3-7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12064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5F5"/>
                </a:solidFill>
                <a:latin typeface="Arial"/>
              </a:defRPr>
            </a:pPr>
            <a:r>
              <a:t>Amzi Asif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ID: 281133626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512064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5F5"/>
                </a:solidFill>
                <a:latin typeface="Arial"/>
              </a:defRPr>
            </a:pPr>
            <a:r>
              <a:t>Musfira Sehar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ID: 280048443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EFF9A"/>
                </a:solidFill>
                <a:latin typeface="Arial"/>
              </a:defRPr>
            </a:pPr>
            <a:r>
              <a:t>EDUQUEST AI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5F5F5"/>
                </a:solidFill>
                <a:latin typeface="Arial"/>
              </a:defRPr>
            </a:pPr>
            <a:r>
              <a:t>Presentation 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011680"/>
            <a:ext cx="3291840" cy="3840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9456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800" b="1">
                <a:solidFill>
                  <a:srgbClr val="DEFF9A"/>
                </a:solidFill>
                <a:latin typeface="Arial"/>
              </a:defRPr>
            </a:pPr>
            <a:r>
              <a:t>01</a:t>
            </a:r>
          </a:p>
          <a:p>
            <a:pPr>
              <a:spcAft>
                <a:spcPts val="1000"/>
              </a:spcAft>
              <a:defRPr sz="1800" b="1">
                <a:solidFill>
                  <a:srgbClr val="F5F5F5"/>
                </a:solidFill>
                <a:latin typeface="Arial"/>
              </a:defRPr>
            </a:pPr>
            <a:r>
              <a:t>Overview &amp; Vision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Project goals, educational significance, and targeted engagement architecture for early learners.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43400" y="2011680"/>
            <a:ext cx="3291840" cy="3840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219456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800" b="1">
                <a:solidFill>
                  <a:srgbClr val="DEFF9A"/>
                </a:solidFill>
                <a:latin typeface="Arial"/>
              </a:defRPr>
            </a:pPr>
            <a:r>
              <a:t>02</a:t>
            </a:r>
          </a:p>
          <a:p>
            <a:pPr>
              <a:spcAft>
                <a:spcPts val="1000"/>
              </a:spcAft>
              <a:defRPr sz="1800" b="1">
                <a:solidFill>
                  <a:srgbClr val="F5F5F5"/>
                </a:solidFill>
                <a:latin typeface="Arial"/>
              </a:defRPr>
            </a:pPr>
            <a:r>
              <a:t>Data Pipeline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Synthetic student generation parameters, metric selection tracking, and exploratory data distributions.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1000" y="2011680"/>
            <a:ext cx="3291840" cy="3840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80" y="219456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800" b="1">
                <a:solidFill>
                  <a:srgbClr val="DEFF9A"/>
                </a:solidFill>
                <a:latin typeface="Arial"/>
              </a:defRPr>
            </a:pPr>
            <a:r>
              <a:t>03</a:t>
            </a:r>
          </a:p>
          <a:p>
            <a:pPr>
              <a:spcAft>
                <a:spcPts val="1000"/>
              </a:spcAft>
              <a:defRPr sz="1800" b="1">
                <a:solidFill>
                  <a:srgbClr val="F5F5F5"/>
                </a:solidFill>
                <a:latin typeface="Arial"/>
              </a:defRPr>
            </a:pPr>
            <a:r>
              <a:t>Model &amp; Insights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Random Forest architecture, predictive labeling formulas, model accuracy metrics, and reward systems.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EFF9A"/>
                </a:solidFill>
                <a:latin typeface="Arial"/>
              </a:defRPr>
            </a:pPr>
            <a:r>
              <a:t>EDUQUEST AI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5F5F5"/>
                </a:solidFill>
                <a:latin typeface="Arial"/>
              </a:defRPr>
            </a:pPr>
            <a:r>
              <a:t>Introduction to EduQuest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F5F5F5"/>
                </a:solidFill>
                <a:latin typeface="Arial"/>
              </a:rPr>
              <a:t>Core Target Focus: </a:t>
            </a:r>
            <a:r>
              <a:rPr b="0" sz="1600">
                <a:solidFill>
                  <a:srgbClr val="94A3B8"/>
                </a:solidFill>
                <a:latin typeface="Arial"/>
              </a:rPr>
              <a:t>Specifically tailored for early childhood education across grades 3 to 7 to maximize student content retention.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F5F5F5"/>
                </a:solidFill>
                <a:latin typeface="Arial"/>
              </a:rPr>
              <a:t>Intelligent Methodology: </a:t>
            </a:r>
            <a:r>
              <a:rPr b="0" sz="1600">
                <a:solidFill>
                  <a:srgbClr val="94A3B8"/>
                </a:solidFill>
                <a:latin typeface="Arial"/>
              </a:rPr>
              <a:t>Utilizes predictive classification algorithms to analyze, predict, and monitor individual learning velocity.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F5F5F5"/>
                </a:solidFill>
                <a:latin typeface="Arial"/>
              </a:rPr>
              <a:t>Adaptive Core Loop: </a:t>
            </a:r>
            <a:r>
              <a:rPr b="0" sz="1600">
                <a:solidFill>
                  <a:srgbClr val="94A3B8"/>
                </a:solidFill>
                <a:latin typeface="Arial"/>
              </a:rPr>
              <a:t>Dynamically adjusts system pathing based on behavioral data outputs to eliminate learning drop-offs.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0" y="2011680"/>
            <a:ext cx="4572000" cy="3840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0" y="2560320"/>
            <a:ext cx="4023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DEFF9A"/>
                </a:solidFill>
              </a:defRPr>
            </a:pPr>
            <a:r>
              <a:t>THE MANDATE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Gamifying education transforms passive curriculum delivery into active discovery loops, backed by automated machine learning supervision.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EFF9A"/>
                </a:solidFill>
                <a:latin typeface="Arial"/>
              </a:defRPr>
            </a:pPr>
            <a:r>
              <a:t>EDUQUEST AI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5F5F5"/>
                </a:solidFill>
                <a:latin typeface="Arial"/>
              </a:defRPr>
            </a:pPr>
            <a:r>
              <a:t>Dataset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F5F5F5"/>
                </a:solidFill>
                <a:latin typeface="Arial"/>
              </a:rPr>
              <a:t>Synthetic Population: </a:t>
            </a:r>
            <a:r>
              <a:rPr b="0" sz="1600">
                <a:solidFill>
                  <a:srgbClr val="94A3B8"/>
                </a:solidFill>
                <a:latin typeface="Arial"/>
              </a:rPr>
              <a:t>Generated a robust set of 200 custom student data rows incorporating realistic variance.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F5F5F5"/>
                </a:solidFill>
                <a:latin typeface="Arial"/>
              </a:rPr>
              <a:t>Reproducible Integrity: </a:t>
            </a:r>
            <a:r>
              <a:rPr b="0" sz="1600">
                <a:solidFill>
                  <a:srgbClr val="94A3B8"/>
                </a:solidFill>
                <a:latin typeface="Arial"/>
              </a:rPr>
              <a:t>Locked under evaluation seed (42) to guarantee uniform distribution split testing.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F5F5F5"/>
                </a:solidFill>
                <a:latin typeface="Arial"/>
              </a:rPr>
              <a:t>Balanced Framework: </a:t>
            </a:r>
            <a:r>
              <a:rPr b="0" sz="1600">
                <a:solidFill>
                  <a:srgbClr val="94A3B8"/>
                </a:solidFill>
                <a:latin typeface="Arial"/>
              </a:rPr>
              <a:t>Class parameters were tuned to eliminate model baseline training biases.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0" y="2194560"/>
            <a:ext cx="210312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DEF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F5F5"/>
                </a:solidFill>
                <a:latin typeface="Arial"/>
              </a:defRPr>
            </a:pPr>
            <a:r>
              <a:t>Quiz Scores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9326880" y="2194560"/>
            <a:ext cx="210312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DEF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F5F5"/>
                </a:solidFill>
                <a:latin typeface="Arial"/>
              </a:defRPr>
            </a:pPr>
            <a:r>
              <a:t>Assignments Completed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0" y="3383280"/>
            <a:ext cx="210312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DEF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F5F5"/>
                </a:solidFill>
                <a:latin typeface="Arial"/>
              </a:defRPr>
            </a:pPr>
            <a:r>
              <a:t>Time Spent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0" y="3383280"/>
            <a:ext cx="210312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DEF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F5F5"/>
                </a:solidFill>
                <a:latin typeface="Arial"/>
              </a:defRPr>
            </a:pPr>
            <a:r>
              <a:t>Total Attempts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0" y="4572000"/>
            <a:ext cx="210312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DEF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F5F5"/>
                </a:solidFill>
                <a:latin typeface="Arial"/>
              </a:defRPr>
            </a:pPr>
            <a:r>
              <a:t>Hints Used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0" y="4572000"/>
            <a:ext cx="210312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DEF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F5F5"/>
                </a:solidFill>
                <a:latin typeface="Arial"/>
              </a:defRPr>
            </a:pPr>
            <a:r>
              <a:t>Streak Days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EFF9A"/>
                </a:solidFill>
                <a:latin typeface="Arial"/>
              </a:defRPr>
            </a:pPr>
            <a:r>
              <a:t>EDUQUEST AI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5F5F5"/>
                </a:solidFill>
                <a:latin typeface="Arial"/>
              </a:defRPr>
            </a:pPr>
            <a:r>
              <a:t>Predictive Labeling Logic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286000"/>
            <a:ext cx="502920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100" b="1">
                <a:solidFill>
                  <a:srgbClr val="DEFF9A"/>
                </a:solidFill>
              </a:defRPr>
            </a:pPr>
            <a:r>
              <a:t>COMPOSITE PERFORMANCE SCORE</a:t>
            </a:r>
          </a:p>
          <a:p>
            <a:pPr>
              <a:spcAft>
                <a:spcPts val="2000"/>
              </a:spcAft>
              <a:defRPr sz="1800" b="1">
                <a:solidFill>
                  <a:srgbClr val="F5F5F5"/>
                </a:solidFill>
                <a:latin typeface="Courier New"/>
              </a:defRPr>
            </a:pPr>
            <a:r>
              <a:t>S = 0.4(Qs) + 0.3(Ac) + 0.2(Ds) + 0.1(Ts)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Where:</a:t>
            </a:r>
            <a:br/>
            <a:r>
              <a:t>Qs: Quiz Score | Ac: Assignments Completed</a:t>
            </a:r>
            <a:br/>
            <a:r>
              <a:t>Ds: Streak Days | Ts: Time Spent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28600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F5F5F5"/>
                </a:solidFill>
                <a:latin typeface="Arial"/>
              </a:rPr>
              <a:t>High Performance: </a:t>
            </a:r>
            <a:r>
              <a:rPr b="0" sz="1600">
                <a:solidFill>
                  <a:srgbClr val="94A3B8"/>
                </a:solidFill>
                <a:latin typeface="Arial"/>
              </a:rPr>
              <a:t>Scores strictly greater than 65 map to fast-track curriculum modules.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F5F5F5"/>
                </a:solidFill>
                <a:latin typeface="Arial"/>
              </a:rPr>
              <a:t>Medium Performance: </a:t>
            </a:r>
            <a:r>
              <a:rPr b="0" sz="1600">
                <a:solidFill>
                  <a:srgbClr val="94A3B8"/>
                </a:solidFill>
                <a:latin typeface="Arial"/>
              </a:rPr>
              <a:t>Scores spanning 51 to 65 represent standard adaptive support loops.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F5F5F5"/>
                </a:solidFill>
                <a:latin typeface="Arial"/>
              </a:rPr>
              <a:t>Low Performance: </a:t>
            </a:r>
            <a:r>
              <a:rPr b="0" sz="1600">
                <a:solidFill>
                  <a:srgbClr val="94A3B8"/>
                </a:solidFill>
                <a:latin typeface="Arial"/>
              </a:rPr>
              <a:t>Scores equal to or below 50 auto-trigger foundational reinforcement alerts.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EFF9A"/>
                </a:solidFill>
                <a:latin typeface="Arial"/>
              </a:defRPr>
            </a:pPr>
            <a:r>
              <a:t>EDUQUEST AI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5F5F5"/>
                </a:solidFill>
                <a:latin typeface="Arial"/>
              </a:defRPr>
            </a:pPr>
            <a:r>
              <a:t>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F5F5F5"/>
                </a:solidFill>
                <a:latin typeface="Arial"/>
              </a:rPr>
              <a:t>Balanced Volume: </a:t>
            </a:r>
            <a:r>
              <a:rPr b="0" sz="1600">
                <a:solidFill>
                  <a:srgbClr val="94A3B8"/>
                </a:solidFill>
                <a:latin typeface="Arial"/>
              </a:rPr>
              <a:t>Ensured sufficient representation across tiers to stabilize learning variance weights during model fits.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F5F5F5"/>
                </a:solidFill>
                <a:latin typeface="Arial"/>
              </a:rPr>
              <a:t>Label Refinement: </a:t>
            </a:r>
            <a:r>
              <a:rPr b="0" sz="1600">
                <a:solidFill>
                  <a:srgbClr val="94A3B8"/>
                </a:solidFill>
                <a:latin typeface="Arial"/>
              </a:rPr>
              <a:t>Initial strict cuts skewed sample density; adjusting logic boundaries achieved target analytical symmetry.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22860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F5F5F5"/>
                </a:solidFill>
              </a:defRPr>
            </a:pPr>
            <a:r>
              <a:t>Medium Tier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2377440"/>
            <a:ext cx="3200400" cy="320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0" y="2377440"/>
            <a:ext cx="3200400" cy="32004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21440" y="22402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76 (38%)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34747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F5F5F5"/>
                </a:solidFill>
              </a:defRPr>
            </a:pPr>
            <a:r>
              <a:t>Low Tier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566160"/>
            <a:ext cx="3200400" cy="320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0" y="3566160"/>
            <a:ext cx="3116178" cy="3200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7218" y="34290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74 (37%)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663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F5F5F5"/>
                </a:solidFill>
              </a:defRPr>
            </a:pPr>
            <a:r>
              <a:t>High Tier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4754879"/>
            <a:ext cx="3200400" cy="320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0" y="4754879"/>
            <a:ext cx="2105526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6566" y="46177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50 (25%)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EFF9A"/>
                </a:solidFill>
                <a:latin typeface="Arial"/>
              </a:defRPr>
            </a:pPr>
            <a:r>
              <a:t>EDUQUEST AI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5F5F5"/>
                </a:solidFill>
                <a:latin typeface="Arial"/>
              </a:defRPr>
            </a:pPr>
            <a:r>
              <a:t>Statistical Feature Distributions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F5F5F5"/>
                </a:solidFill>
                <a:latin typeface="Arial"/>
              </a:rPr>
              <a:t>Quiz Score Shift: </a:t>
            </a:r>
            <a:r>
              <a:rPr b="0" sz="1600">
                <a:solidFill>
                  <a:srgbClr val="94A3B8"/>
                </a:solidFill>
                <a:latin typeface="Arial"/>
              </a:rPr>
              <a:t>A pronounced linear upward shift in median quiz tracking is observed across Low to High performance classes.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F5F5F5"/>
                </a:solidFill>
                <a:latin typeface="Arial"/>
              </a:rPr>
              <a:t>Variance Compression: </a:t>
            </a:r>
            <a:r>
              <a:rPr b="0" sz="1600">
                <a:solidFill>
                  <a:srgbClr val="94A3B8"/>
                </a:solidFill>
                <a:latin typeface="Arial"/>
              </a:rPr>
              <a:t>High-performing profiles exhibit narrow, highly compressed standard deviations across engagement records.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F5F5F5"/>
                </a:solidFill>
                <a:latin typeface="Arial"/>
              </a:rPr>
              <a:t>Outlier Truncation: </a:t>
            </a:r>
            <a:r>
              <a:rPr b="0" sz="1600">
                <a:solidFill>
                  <a:srgbClr val="94A3B8"/>
                </a:solidFill>
                <a:latin typeface="Arial"/>
              </a:rPr>
              <a:t>Extreme low-engagement anomalies vanish entirely within the platform's Upper tier.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0" y="2011680"/>
            <a:ext cx="4572000" cy="3840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0" y="2377440"/>
            <a:ext cx="4023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DEFF9A"/>
                </a:solidFill>
              </a:defRPr>
            </a:pPr>
            <a:r>
              <a:t>DISTRIBUTION MATRIX KEY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5F5F5"/>
                </a:solidFill>
                <a:latin typeface="Arial"/>
              </a:rPr>
              <a:t>• High Tier: </a:t>
            </a:r>
            <a:r>
              <a:rPr b="0" sz="1400">
                <a:solidFill>
                  <a:srgbClr val="94A3B8"/>
                </a:solidFill>
                <a:latin typeface="Arial"/>
              </a:rPr>
              <a:t>Characterized by clustered high scores + extended streaks.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5F5F5"/>
                </a:solidFill>
                <a:latin typeface="Arial"/>
              </a:rPr>
              <a:t>• Medium Tier: </a:t>
            </a:r>
            <a:r>
              <a:rPr b="0" sz="1400">
                <a:solidFill>
                  <a:srgbClr val="94A3B8"/>
                </a:solidFill>
                <a:latin typeface="Arial"/>
              </a:rPr>
              <a:t>Displays wide exploration variance + erratic hint access.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5F5F5"/>
                </a:solidFill>
                <a:latin typeface="Arial"/>
              </a:rPr>
              <a:t>• Low Tier: </a:t>
            </a:r>
            <a:r>
              <a:rPr b="0" sz="1400">
                <a:solidFill>
                  <a:srgbClr val="94A3B8"/>
                </a:solidFill>
                <a:latin typeface="Arial"/>
              </a:rPr>
              <a:t>Shows compressed lower quiz boundaries + high drop rates.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EFF9A"/>
                </a:solidFill>
                <a:latin typeface="Arial"/>
              </a:defRPr>
            </a:pPr>
            <a:r>
              <a:t>EDUQUEST AI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5F5F5"/>
                </a:solidFill>
                <a:latin typeface="Arial"/>
              </a:defRPr>
            </a:pPr>
            <a:r>
              <a:t>Machine Learning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F5F5F5"/>
                </a:solidFill>
                <a:latin typeface="Arial"/>
              </a:rPr>
              <a:t>Model Choice: </a:t>
            </a:r>
            <a:r>
              <a:rPr b="0" sz="1600">
                <a:solidFill>
                  <a:srgbClr val="94A3B8"/>
                </a:solidFill>
                <a:latin typeface="Arial"/>
              </a:rPr>
              <a:t>Selected a Random Forest Classifier utilizing 100 base decision tree estimators.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F5F5F5"/>
                </a:solidFill>
                <a:latin typeface="Arial"/>
              </a:rPr>
              <a:t>Architecture Value: </a:t>
            </a:r>
            <a:r>
              <a:rPr b="0" sz="1600">
                <a:solidFill>
                  <a:srgbClr val="94A3B8"/>
                </a:solidFill>
                <a:latin typeface="Arial"/>
              </a:rPr>
              <a:t>Mitigates early single-tree overfitting while establishing strong multi-feature nonlinear boundaries.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F5F5F5"/>
                </a:solidFill>
                <a:latin typeface="Arial"/>
              </a:rPr>
              <a:t>Validation Strategy: </a:t>
            </a:r>
            <a:r>
              <a:rPr b="0" sz="1600">
                <a:solidFill>
                  <a:srgbClr val="94A3B8"/>
                </a:solidFill>
                <a:latin typeface="Arial"/>
              </a:rPr>
              <a:t>Enforced an 80/20 train-test ratio over the 200 samples (160 train, 40 validation).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F5F5F5"/>
                </a:solidFill>
                <a:latin typeface="Arial"/>
              </a:rPr>
              <a:t>Stratified Splitting: </a:t>
            </a:r>
            <a:r>
              <a:rPr b="0" sz="1600">
                <a:solidFill>
                  <a:srgbClr val="94A3B8"/>
                </a:solidFill>
                <a:latin typeface="Arial"/>
              </a:rPr>
              <a:t>Preserved precise baseline tier percentages across validation pools.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0" y="2011680"/>
            <a:ext cx="411480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5F5F5"/>
                </a:solidFill>
                <a:latin typeface="Arial"/>
              </a:defRPr>
            </a:pPr>
            <a:r>
              <a:t>Data Input (N=200)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0" y="3017520"/>
            <a:ext cx="411480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5F5F5"/>
                </a:solidFill>
                <a:latin typeface="Arial"/>
              </a:defRPr>
            </a:pPr>
            <a:r>
              <a:t>Stratified Split (80/20)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0" y="4023360"/>
            <a:ext cx="4114800" cy="731520"/>
          </a:xfrm>
          <a:prstGeom prst="rect">
            <a:avLst/>
          </a:prstGeom>
          <a:solidFill>
            <a:srgbClr val="1E293B"/>
          </a:solidFill>
          <a:ln w="25400">
            <a:solidFill>
              <a:srgbClr val="DEF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F5F5"/>
                </a:solidFill>
                <a:latin typeface="Arial"/>
              </a:defRPr>
            </a:pPr>
            <a:r>
              <a:t>Ensemble Processing (100 Trees)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5029200"/>
            <a:ext cx="411480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5F5F5"/>
                </a:solidFill>
                <a:latin typeface="Arial"/>
              </a:defRPr>
            </a:pPr>
            <a:r>
              <a:t>Target Class Inference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EFF9A"/>
                </a:solidFill>
                <a:latin typeface="Arial"/>
              </a:defRPr>
            </a:pPr>
            <a:r>
              <a:t>EDUQUEST AI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5F5F5"/>
                </a:solidFill>
                <a:latin typeface="Arial"/>
              </a:defRPr>
            </a:pPr>
            <a:r>
              <a:t>Model Evaluation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F5F5F5"/>
                </a:solidFill>
                <a:latin typeface="Arial"/>
              </a:rPr>
              <a:t>Accuracy Target Achieved: </a:t>
            </a:r>
            <a:r>
              <a:rPr b="0" sz="1600">
                <a:solidFill>
                  <a:srgbClr val="94A3B8"/>
                </a:solidFill>
                <a:latin typeface="Arial"/>
              </a:rPr>
              <a:t>Overall validation framework registered an evaluation test accuracy of 72.50%.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F5F5F5"/>
                </a:solidFill>
                <a:latin typeface="Arial"/>
              </a:rPr>
              <a:t>High Tier Precision: </a:t>
            </a:r>
            <a:r>
              <a:rPr b="0" sz="1600">
                <a:solidFill>
                  <a:srgbClr val="94A3B8"/>
                </a:solidFill>
                <a:latin typeface="Arial"/>
              </a:rPr>
              <a:t>Reached 89% precision marking highly reliable top-tier placement predictions.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0" y="2011680"/>
          <a:ext cx="5943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280160"/>
                <a:gridCol w="1280160"/>
                <a:gridCol w="1280160"/>
              </a:tblGrid>
              <a:tr h="64008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DEFF9A"/>
                          </a:solidFill>
                        </a:defRPr>
                      </a:pPr>
                      <a:r>
                        <a:t>Performance Class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DEFF9A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DEFF9A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DEFF9A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F5F5"/>
                          </a:solidFill>
                        </a:defRPr>
                      </a:pPr>
                      <a:r>
                        <a:t>High Performance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</a:defRPr>
                      </a:pPr>
                      <a:r>
                        <a:t>0.89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</a:defRPr>
                      </a:pPr>
                      <a:r>
                        <a:t>0.80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</a:defRPr>
                      </a:pPr>
                      <a:r>
                        <a:t>0.84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F5F5"/>
                          </a:solidFill>
                        </a:defRPr>
                      </a:pPr>
                      <a:r>
                        <a:t>Low Performance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</a:defRPr>
                      </a:pPr>
                      <a:r>
                        <a:t>0.73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</a:defRPr>
                      </a:pPr>
                      <a:r>
                        <a:t>0.73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</a:defRPr>
                      </a:pPr>
                      <a:r>
                        <a:t>0.73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F5F5"/>
                          </a:solidFill>
                        </a:defRPr>
                      </a:pPr>
                      <a:r>
                        <a:t>Medium Performance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</a:defRPr>
                      </a:pPr>
                      <a:r>
                        <a:t>0.62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</a:defRPr>
                      </a:pPr>
                      <a:r>
                        <a:t>0.67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</a:defRPr>
                      </a:pPr>
                      <a:r>
                        <a:t>0.65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F5F5"/>
                          </a:solidFill>
                        </a:defRPr>
                      </a:pPr>
                      <a:r>
                        <a:t>Overall Accuracy</a:t>
                      </a:r>
                    </a:p>
                  </a:txBody>
                  <a:tcPr>
                    <a:solidFill>
                      <a:srgbClr val="141E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F5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141E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F5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141E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F5F5"/>
                          </a:solidFill>
                        </a:defRPr>
                      </a:pPr>
                      <a:r>
                        <a:t>72.50%</a:t>
                      </a:r>
                    </a:p>
                  </a:txBody>
                  <a:tcPr>
                    <a:solidFill>
                      <a:srgbClr val="141E2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EFF9A"/>
                </a:solidFill>
                <a:latin typeface="Arial"/>
              </a:defRPr>
            </a:pPr>
            <a:r>
              <a:t>EDUQUEST AI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5F5F5"/>
                </a:solidFill>
                <a:latin typeface="Arial"/>
              </a:defRPr>
            </a:pPr>
            <a:r>
              <a:t>Predictive Insights &amp; Drivers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194560"/>
            <a:ext cx="329184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DEFF9A"/>
                </a:solidFill>
                <a:latin typeface="Arial"/>
              </a:defRPr>
            </a:pPr>
            <a:r>
              <a:t>Primary Predictors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Feature importance curves confirm Quiz Mastery and Assignment Completion rates carry the largest information gain coefficients.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43400" y="2194560"/>
            <a:ext cx="329184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DEFF9A"/>
                </a:solidFill>
                <a:latin typeface="Arial"/>
              </a:defRPr>
            </a:pPr>
            <a:r>
              <a:t>Consistency Signals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High multi-day engagement streaks represent a baseline shield against learning drop-off risks across all grades evaluated.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8001000" y="2194560"/>
            <a:ext cx="329184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DEFF9A"/>
                </a:solidFill>
                <a:latin typeface="Arial"/>
              </a:defRPr>
            </a:pPr>
            <a:r>
              <a:t>Classification Flaws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Error matrices reveal localized overlap boundaries between Medium and Low tiers, pointing to shared marginal behavioral states.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EFF9A"/>
                </a:solidFill>
                <a:latin typeface="Arial"/>
              </a:defRPr>
            </a:pPr>
            <a:r>
              <a:t>EDUQUEST AI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5F5F5"/>
                </a:solidFill>
                <a:latin typeface="Arial"/>
              </a:defRPr>
            </a:pPr>
            <a:r>
              <a:t>Gamified Reward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F5F5F5"/>
                </a:solidFill>
                <a:latin typeface="Arial"/>
              </a:rPr>
              <a:t>Dynamic Tier Calibration: </a:t>
            </a:r>
            <a:r>
              <a:rPr b="0" sz="1600">
                <a:solidFill>
                  <a:srgbClr val="94A3B8"/>
                </a:solidFill>
                <a:latin typeface="Arial"/>
              </a:rPr>
              <a:t>The platform maps live predictive probabilities directly to structural student profiles.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F5F5F5"/>
                </a:solidFill>
                <a:latin typeface="Arial"/>
              </a:rPr>
              <a:t>Targeted Encouragement: </a:t>
            </a:r>
            <a:r>
              <a:rPr b="0" sz="1600">
                <a:solidFill>
                  <a:srgbClr val="94A3B8"/>
                </a:solidFill>
                <a:latin typeface="Arial"/>
              </a:rPr>
              <a:t>Automated bio engines provide custom messaging based on the inferred performance bucket.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2011680"/>
            <a:ext cx="484632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F5F5F5"/>
                </a:solidFill>
              </a:defRPr>
            </a:pPr>
            <a:r>
              <a:t>🥇 Gold Scholar — High Tier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Triggers fast-paced enrichment exploration vectors.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3291840"/>
            <a:ext cx="484632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F5F5F5"/>
                </a:solidFill>
              </a:defRPr>
            </a:pPr>
            <a:r>
              <a:t>🥈 Silver Star — Medium Tier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Deploys intermediate engagement milestone nudges.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4572000"/>
            <a:ext cx="484632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F5F5F5"/>
                </a:solidFill>
              </a:defRPr>
            </a:pPr>
            <a:r>
              <a:t>🥉 Bronze Beginner — Low Tier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Activates scaffolded foundational micro-reviews.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0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6400" b="1">
                <a:solidFill>
                  <a:srgbClr val="F5F5F5"/>
                </a:solidFill>
                <a:latin typeface="Arial"/>
              </a:defRPr>
            </a:pPr>
            <a:r>
              <a:t>Thank You</a:t>
            </a:r>
          </a:p>
          <a:p>
            <a:pPr algn="ctr">
              <a:defRPr sz="2200">
                <a:solidFill>
                  <a:srgbClr val="DEFF9A"/>
                </a:solidFill>
                <a:latin typeface="Arial"/>
              </a:defRPr>
            </a:pPr>
            <a:r>
              <a:t>Questions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3035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Amzi Asif (281133626)  &amp;  Musfira Sehar (280048443)</a:t>
            </a:r>
            <a:br/>
            <a:r>
              <a:t>Introduction to Artificial Intelligence Project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